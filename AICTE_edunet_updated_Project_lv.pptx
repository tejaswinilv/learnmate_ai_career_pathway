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83" r:id="rId2"/>
    <p:sldId id="257" r:id="rId3"/>
    <p:sldId id="282" r:id="rId4"/>
    <p:sldId id="285" r:id="rId5"/>
    <p:sldId id="278" r:id="rId6"/>
    <p:sldId id="295" r:id="rId7"/>
    <p:sldId id="296" r:id="rId8"/>
    <p:sldId id="297" r:id="rId9"/>
    <p:sldId id="298" r:id="rId10"/>
    <p:sldId id="264" r:id="rId11"/>
    <p:sldId id="277" r:id="rId12"/>
    <p:sldId id="301" r:id="rId13"/>
    <p:sldId id="302" r:id="rId14"/>
    <p:sldId id="303" r:id="rId15"/>
    <p:sldId id="286" r:id="rId16"/>
    <p:sldId id="287" r:id="rId17"/>
    <p:sldId id="280" r:id="rId18"/>
    <p:sldId id="288" r:id="rId19"/>
    <p:sldId id="291" r:id="rId20"/>
    <p:sldId id="290" r:id="rId21"/>
    <p:sldId id="289" r:id="rId22"/>
    <p:sldId id="27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A6B9108B-7598-1D50-C4AA-8A38026DAEEF}" v="18" dt="2026-06-19T06:56:18.840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tejaswinilv6@gmail.com(AIC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hyperlink" Target="mailto:tejlv36@gmail.com(IB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jaswinilv/LearnMate_AI_Career_Pathway.gi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909796991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</a:t>
                      </a:r>
                      <a:r>
                        <a:rPr lang="en-US" sz="1800" dirty="0"/>
                        <a:t>TEJASWINI LV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3"/>
                        </a:rPr>
                        <a:t>tejaswinilv6@gmail.com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3"/>
                        </a:rPr>
                        <a:t>(AICTE</a:t>
                      </a:r>
                      <a:r>
                        <a:rPr lang="en-US" dirty="0"/>
                        <a:t> registered)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4"/>
                        </a:rPr>
                        <a:t>tejlv36@gmail.com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4"/>
                        </a:rPr>
                        <a:t>(IBM</a:t>
                      </a:r>
                      <a:r>
                        <a:rPr lang="en-US" dirty="0"/>
                        <a:t> Skills build registered)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      8073428928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dirty="0">
                <a:highlight>
                  <a:srgbClr val="FFFF00"/>
                </a:highlight>
              </a:rPr>
              <a:t>Education / EdTech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dirty="0">
                <a:highlight>
                  <a:srgbClr val="FFFF00"/>
                </a:highlight>
              </a:rPr>
              <a:t>Agentic AI for Personalized Course Pathways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57FE0-4B48-467C-841B-76696B32F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5958" y="3654030"/>
            <a:ext cx="883219" cy="9705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403078" y="1010245"/>
            <a:ext cx="11471479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Problem Statement No.12 </a:t>
            </a:r>
            <a:r>
              <a:rPr lang="en-US" sz="2000" dirty="0"/>
              <a:t>- Agentic AI for Personalized Course Pathways. </a:t>
            </a:r>
          </a:p>
          <a:p>
            <a:pPr fontAlgn="base"/>
            <a:endParaRPr lang="en-US" sz="2000" dirty="0"/>
          </a:p>
          <a:p>
            <a:pPr fontAlgn="base"/>
            <a:r>
              <a:rPr lang="en-US" sz="2000" b="1" dirty="0"/>
              <a:t>The Challenge </a:t>
            </a:r>
            <a:r>
              <a:rPr lang="en-US" sz="2000" dirty="0"/>
              <a:t>- Students often struggle to identify the right learning path that aligns with their interests and long-term goals due to the overwhelming number of online courses and a lack of personalized guidance. </a:t>
            </a:r>
            <a:r>
              <a:rPr lang="en-US" sz="2000" dirty="0" err="1"/>
              <a:t>LearnMate</a:t>
            </a:r>
            <a:r>
              <a:rPr lang="en-US" sz="2000" dirty="0"/>
              <a:t> aims to solve this by acting as an Agentic AI coach that interacts with students, understands their interests (like Frontend Development, Cybersecurity, UI/UX Design, etc.), assesses their current skill level, and dynamically builds a personalized course roadmap that adapts over time based on progress and preferences.</a:t>
            </a:r>
          </a:p>
          <a:p>
            <a:pPr fontAlgn="base"/>
            <a:endParaRPr lang="en-US" sz="2000" dirty="0"/>
          </a:p>
          <a:p>
            <a:r>
              <a:rPr lang="en-US" sz="2000" b="1" dirty="0"/>
              <a:t>The Objective -</a:t>
            </a:r>
            <a:br>
              <a:rPr lang="en-US" sz="2000" dirty="0"/>
            </a:br>
            <a:r>
              <a:rPr lang="en-US" sz="2000" dirty="0"/>
              <a:t>Build an Agentic AI coach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Understands student interests (Web Dev, Cybersecurity, UI/UX,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Assesses current skill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Builds a personalized course roadmap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Adapts the roadmap as progress changes</a:t>
            </a:r>
          </a:p>
          <a:p>
            <a:pPr fontAlgn="base"/>
            <a:endParaRPr lang="en-US" sz="2000" dirty="0"/>
          </a:p>
          <a:p>
            <a:pPr fontAlgn="base"/>
            <a:r>
              <a:rPr lang="en-US" sz="2000" dirty="0"/>
              <a:t> </a:t>
            </a:r>
            <a:r>
              <a:rPr lang="en-US" sz="2000" b="1" dirty="0"/>
              <a:t>Technology</a:t>
            </a:r>
            <a:r>
              <a:rPr lang="en-US" sz="2000" dirty="0"/>
              <a:t> - Use of IBM Cloud Lite services / IBM Granite is mandatory.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403078" y="218056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699640" y="1633974"/>
            <a:ext cx="10256686" cy="5224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Proposed Solution: </a:t>
            </a:r>
            <a:r>
              <a:rPr lang="en-US" sz="2000" b="1" dirty="0" err="1"/>
              <a:t>LearnMate</a:t>
            </a:r>
            <a:r>
              <a:rPr lang="en-US" sz="2000" b="1" dirty="0"/>
              <a:t> - AI-Powered Personalized Course Pathway Agent</a:t>
            </a:r>
          </a:p>
          <a:p>
            <a:endParaRPr lang="en-US" sz="2000" dirty="0"/>
          </a:p>
          <a:p>
            <a:r>
              <a:rPr lang="en-US" sz="2000" b="1" dirty="0"/>
              <a:t>Conversational Intake</a:t>
            </a:r>
            <a:r>
              <a:rPr lang="en-US" sz="2000" dirty="0"/>
              <a:t> - Captures the student's career interest through natural chat, no forms required.</a:t>
            </a:r>
          </a:p>
          <a:p>
            <a:r>
              <a:rPr lang="en-US" sz="2000" b="1" dirty="0"/>
              <a:t>Skill &amp; Time Assessment</a:t>
            </a:r>
            <a:r>
              <a:rPr lang="en-US" sz="2000" dirty="0"/>
              <a:t> - Asks targeted questions to gauge current skill level and weekly study availability.</a:t>
            </a:r>
          </a:p>
          <a:p>
            <a:r>
              <a:rPr lang="en-US" sz="2000" b="1" dirty="0"/>
              <a:t>AI-Generated Roadmap</a:t>
            </a:r>
            <a:r>
              <a:rPr lang="en-US" sz="2000" dirty="0"/>
              <a:t> - Uses IBM Granite (via watsonx.ai) to build a structured, stage-wise learning plan with time estimates.</a:t>
            </a:r>
          </a:p>
          <a:p>
            <a:r>
              <a:rPr lang="en-US" sz="2000" b="1" dirty="0"/>
              <a:t>Verified Resource Linking</a:t>
            </a:r>
            <a:r>
              <a:rPr lang="en-US" sz="2000" dirty="0"/>
              <a:t> - Recommends only trusted domains and safe search links, avoiding broken or fake URLs.</a:t>
            </a:r>
          </a:p>
          <a:p>
            <a:r>
              <a:rPr lang="en-US" sz="2000" b="1" dirty="0"/>
              <a:t>Live Progress Tracking</a:t>
            </a:r>
            <a:r>
              <a:rPr lang="en-US" sz="2000" dirty="0"/>
              <a:t> - Sidebar updates in real time as the student completes stages of the roadmap.</a:t>
            </a:r>
          </a:p>
          <a:p>
            <a:r>
              <a:rPr lang="en-US" sz="2000" b="1" dirty="0"/>
              <a:t>Adaptive Re-planning</a:t>
            </a:r>
            <a:r>
              <a:rPr lang="en-US" sz="2000" dirty="0"/>
              <a:t> - Regenerates the roadmap when the student's goal, skill level, or time availability changes.</a:t>
            </a:r>
          </a:p>
          <a:p>
            <a:pPr fontAlgn="base"/>
            <a:endParaRPr lang="en-US" b="1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699640" y="654661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546581" y="542297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03099" y="1404716"/>
            <a:ext cx="1042621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Cloud Lite services</a:t>
            </a:r>
            <a:r>
              <a:rPr lang="en-US" sz="2000" dirty="0"/>
              <a:t> - provides the infrastructure for building and running the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Granite model -</a:t>
            </a:r>
            <a:r>
              <a:rPr lang="en-US" sz="2000" dirty="0"/>
              <a:t> (e.g. granite-4-h-small) – for natural language understanding, conversational reasoning, and roadmap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watsonx.ai</a:t>
            </a:r>
            <a:r>
              <a:rPr lang="en-US" sz="2000" dirty="0"/>
              <a:t> - for secure model deployment and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Python (Flask)</a:t>
            </a:r>
            <a:r>
              <a:rPr lang="en-US" sz="2000" dirty="0"/>
              <a:t> - backend framework orchestrating conversation logic and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HTML/CSS/JS</a:t>
            </a:r>
            <a:r>
              <a:rPr lang="en-US" sz="2000" dirty="0"/>
              <a:t> - frontend chat interface with live sidebar (Progress, My Roadmap, Profile)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Bob</a:t>
            </a:r>
            <a:r>
              <a:rPr lang="en-US" sz="2000" dirty="0"/>
              <a:t> - AI coding assistant used to build and iterate on the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6686994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Required Files created using IBM bob </a:t>
            </a:r>
            <a:endParaRPr sz="28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A49B11-EEB4-4B09-960E-6A5109057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915957"/>
            <a:ext cx="10835805" cy="582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31A73-96FD-4CF5-91A5-E835E1255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54" y="928826"/>
            <a:ext cx="10404389" cy="578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4E82B1-044C-4EE3-92D2-5FA61996DEEC}"/>
              </a:ext>
            </a:extLst>
          </p:cNvPr>
          <p:cNvSpPr/>
          <p:nvPr/>
        </p:nvSpPr>
        <p:spPr>
          <a:xfrm>
            <a:off x="395545" y="213897"/>
            <a:ext cx="3698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rgbClr val="051D3A"/>
              </a:buClr>
              <a:buSzPts val="3500"/>
            </a:pPr>
            <a:r>
              <a:rPr lang="en-US" sz="2000" b="1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lang="en-US" b="1" dirty="0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2B52D-18B6-47A9-9A25-E8B19DFFF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75" y="808286"/>
            <a:ext cx="10635049" cy="593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16160-534B-4512-8807-742111615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1" y="771747"/>
            <a:ext cx="9374658" cy="59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Agentic AI in the solution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547651" y="1052164"/>
            <a:ext cx="740664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Role of Agentic AI in </a:t>
            </a:r>
            <a:r>
              <a:rPr lang="en-US" sz="2000" b="1" dirty="0" err="1"/>
              <a:t>LearnMate</a:t>
            </a:r>
            <a:endParaRPr lang="en-US" sz="2000" b="1" dirty="0"/>
          </a:p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Agentic AI enables </a:t>
            </a:r>
            <a:r>
              <a:rPr lang="en-US" sz="2000" dirty="0" err="1"/>
              <a:t>LearnMate</a:t>
            </a:r>
            <a:r>
              <a:rPr lang="en-US" sz="2000" dirty="0"/>
              <a:t> to function as an autonomous learning coach rather than a static FAQ bot. Using IBM watsonx.ai and IBM Granite models, it interprets open-ended student input, infers intent (interest, skill level, availability) without rigid forms, and generates a tailored, structured roadmap in response.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 agent maintains context across the conversation - remembering the student's stated goals and progress - enabling real-time adaptation: if a student reports completing a stage or changing their target field, </a:t>
            </a:r>
            <a:r>
              <a:rPr lang="en-US" sz="2000" dirty="0" err="1"/>
              <a:t>LearnMate</a:t>
            </a:r>
            <a:r>
              <a:rPr lang="en-US" sz="2000" dirty="0"/>
              <a:t> updates its recommendations accordingly instead of restarting.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This context-awareness, autonomous reasoning, and adaptive behavior make </a:t>
            </a:r>
            <a:r>
              <a:rPr lang="en-US" sz="2000" dirty="0" err="1"/>
              <a:t>LearnMate</a:t>
            </a:r>
            <a:r>
              <a:rPr lang="en-US" sz="2000" dirty="0"/>
              <a:t> proactive and goal-driven - acting like a personal mentor rather than a static course catalog.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Token Usage</a:t>
            </a:r>
            <a:r>
              <a:rPr lang="en-US" sz="2400" b="1" dirty="0">
                <a:sym typeface="Times New Roman"/>
              </a:rPr>
              <a:t> </a:t>
            </a:r>
            <a:endParaRPr sz="2400" b="1" dirty="0"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793192" y="1149225"/>
            <a:ext cx="1009188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"Total tokens consumed during development and testing: 90,148"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F2CB63-8A22-41A0-859A-62A68C53A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036" y="1699825"/>
            <a:ext cx="4603753" cy="48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618B7-31D3-4DD5-B23C-28E1EBAE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816977"/>
            <a:ext cx="10206681" cy="57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76301A-B79E-4069-831A-DF021A17E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85" y="816977"/>
            <a:ext cx="9996073" cy="564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EF8E8-AC72-40DB-9F21-E0631DDBC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105" y="816977"/>
            <a:ext cx="10259789" cy="576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445008" y="385778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445008" y="1141105"/>
            <a:ext cx="1130198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LearnMate</a:t>
            </a:r>
            <a:r>
              <a:rPr lang="en-US" sz="2000" dirty="0"/>
              <a:t> stands out by combining Agentic AI, conversational skill assessment, and adaptive planning into a single system:</a:t>
            </a:r>
          </a:p>
          <a:p>
            <a:endParaRPr lang="en-US" sz="2000" dirty="0"/>
          </a:p>
          <a:p>
            <a:r>
              <a:rPr lang="en-US" sz="2000" b="1" dirty="0"/>
              <a:t>Conversational Skill Assessment</a:t>
            </a:r>
            <a:r>
              <a:rPr lang="en-US" sz="2000" dirty="0"/>
              <a:t> - No forms; skill level and goals are captured through natural dialogue.</a:t>
            </a:r>
          </a:p>
          <a:p>
            <a:r>
              <a:rPr lang="en-US" sz="2000" b="1" dirty="0"/>
              <a:t>Adaptive Roadmap Regeneration</a:t>
            </a:r>
            <a:r>
              <a:rPr lang="en-US" sz="2000" dirty="0"/>
              <a:t> - Updates the plan live when goals, skill level, or time availability change, instead of creating duplicate plans.</a:t>
            </a:r>
          </a:p>
          <a:p>
            <a:r>
              <a:rPr lang="en-US" sz="2000" b="1" dirty="0"/>
              <a:t>Verified Resource Linking</a:t>
            </a:r>
            <a:r>
              <a:rPr lang="en-US" sz="2000" dirty="0"/>
              <a:t> - Avoids broken/hallucinated links by restricting recommendations to trusted domains and safe search-query URLs.</a:t>
            </a:r>
          </a:p>
          <a:p>
            <a:r>
              <a:rPr lang="en-US" sz="2000" b="1" dirty="0"/>
              <a:t>Live Progress Reflection</a:t>
            </a:r>
            <a:r>
              <a:rPr lang="en-US" sz="2000" dirty="0"/>
              <a:t> - Sidebar (Progress, My Roadmap, Profile) updates in real time from the conversation itself.</a:t>
            </a:r>
          </a:p>
          <a:p>
            <a:r>
              <a:rPr lang="en-US" sz="2000" b="1" dirty="0"/>
              <a:t>Downloadable, Portable Roadmap</a:t>
            </a:r>
            <a:r>
              <a:rPr lang="en-US" sz="2000" dirty="0"/>
              <a:t> - Students can export their plan instead of it being locked inside a chat window.</a:t>
            </a:r>
          </a:p>
          <a:p>
            <a:r>
              <a:rPr lang="en-US" sz="2000" b="1" dirty="0"/>
              <a:t>Built on IBM watsonx.ai + Granite</a:t>
            </a:r>
            <a:r>
              <a:rPr lang="en-US" sz="2000" dirty="0"/>
              <a:t>, ensuring reliable, governed model access.</a:t>
            </a:r>
          </a:p>
          <a:p>
            <a:endParaRPr lang="en-US" sz="2000" dirty="0"/>
          </a:p>
          <a:p>
            <a:r>
              <a:rPr lang="en-US" sz="2000" dirty="0"/>
              <a:t>This makes </a:t>
            </a:r>
            <a:r>
              <a:rPr lang="en-US" sz="2000" dirty="0" err="1"/>
              <a:t>LearnMate</a:t>
            </a:r>
            <a:r>
              <a:rPr lang="en-US" sz="2000" dirty="0"/>
              <a:t> a genuinely adaptive digital mentor, not a static course-recommendation list.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012778" y="449695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Git Hub Link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05209-5BBE-4F86-BB20-EE715885D04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04208" y="1696488"/>
            <a:ext cx="879996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Public GitHub </a:t>
            </a:r>
            <a:r>
              <a:rPr lang="en-US" altLang="en-US" sz="2000" b="1" dirty="0">
                <a:solidFill>
                  <a:schemeClr val="tx1"/>
                </a:solidFill>
                <a:latin typeface="+mn-lt"/>
              </a:rPr>
              <a:t>Repository: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+mn-lt"/>
                <a:hlinkClick r:id="rId3"/>
              </a:rPr>
              <a:t>https://github.com/tejaswinilv/LearnMate_AI_Career_Pathway.git</a:t>
            </a:r>
            <a:endParaRPr lang="en-US" altLang="en-US" sz="2000" b="1" dirty="0">
              <a:solidFill>
                <a:schemeClr val="tx1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Repository includes: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source code (app.py, learnmate_agent.py), requirements.txt, 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env.example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README.md with setup instructions and screenshots, and this project presentation.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642075" y="41776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 rot="10800000">
            <a:off x="3624170" y="2494145"/>
            <a:ext cx="5068019" cy="1476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E9F9A0-27F8-4502-9362-5E53F5CDCFE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2075" y="1793738"/>
            <a:ext cx="968485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with Learning Platforms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LearnMate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directly to platforms like Coursera,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freeCodeCamp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YouTube APIs to pull live, verified course/video links automatically instead of static recommendations.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Persistent User Accounts &amp; Long-Term Tracking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login/authentication so students can return over weeks or months, with progress saved across sessions rather than reset each time. 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 </a:t>
            </a:r>
            <a:r>
              <a:rPr lang="en-US" sz="2800" b="1" dirty="0" err="1"/>
              <a:t>Credly</a:t>
            </a:r>
            <a:r>
              <a:rPr lang="en-US" sz="2800" b="1" dirty="0"/>
              <a:t> certificates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81961-8FA0-4ECE-9A29-FB4593085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817" y="1213281"/>
            <a:ext cx="7069282" cy="527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 </a:t>
            </a:r>
            <a:r>
              <a:rPr lang="en-US" sz="2800" b="1" dirty="0" err="1"/>
              <a:t>Credly</a:t>
            </a:r>
            <a:r>
              <a:rPr lang="en-US" sz="2800" b="1" dirty="0"/>
              <a:t> certificates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A3A28A-365F-4A04-B532-F746AF2E0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903" y="1367169"/>
            <a:ext cx="6897287" cy="52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8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 </a:t>
            </a:r>
            <a:r>
              <a:rPr lang="en-US" sz="2800" b="1" dirty="0" err="1"/>
              <a:t>Credly</a:t>
            </a:r>
            <a:r>
              <a:rPr lang="en-US" sz="2800" b="1" dirty="0"/>
              <a:t> certificates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82BBA-8EB2-4A73-8B75-4AA89EC41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64" y="1213281"/>
            <a:ext cx="7264988" cy="561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77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 IBM BOB Certificate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6DF754-A304-42BE-8607-417F0E3C2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622" y="1359026"/>
            <a:ext cx="8146486" cy="50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1012</Words>
  <Application>Microsoft Office PowerPoint</Application>
  <PresentationFormat>Widescreen</PresentationFormat>
  <Paragraphs>111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DELL</cp:lastModifiedBy>
  <cp:revision>22</cp:revision>
  <dcterms:created xsi:type="dcterms:W3CDTF">2025-07-08T05:06:56Z</dcterms:created>
  <dcterms:modified xsi:type="dcterms:W3CDTF">2026-09-09T16:19:12Z</dcterms:modified>
</cp:coreProperties>
</file>